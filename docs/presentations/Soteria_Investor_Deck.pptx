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21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778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83C5D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914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D6E0EE"/>
                </a:solidFill>
                <a:latin typeface="Calibri"/>
              </a:rPr>
              <a:t>●  Pre-launch · Code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Backup verification
you can 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6E0EE"/>
                </a:solidFill>
                <a:latin typeface="Calibri"/>
              </a:rPr>
              <a:t>A B2B SaaS that drills your backups every day and signs the result —
so a broken backup shows up in a report, not an outage.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4A0C6"/>
                </a:solidFill>
                <a:latin typeface="Calibri"/>
              </a:rPr>
              <a:t>Investor brief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Backups fail silently — you find out during the outage.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2011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RESTORES THAT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B91C1C"/>
                </a:solidFill>
                <a:latin typeface="Calibri"/>
              </a:rPr>
              <a:t>~1 in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on first attempt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54864" cy="20116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DOWNTIME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8181B"/>
                </a:solidFill>
                <a:latin typeface="Calibri"/>
              </a:rPr>
              <a:t>$5,600 /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Gartner industry 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54864" cy="20116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TEAMS TESTING 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8181B"/>
                </a:solidFill>
                <a:latin typeface="Calibri"/>
              </a:rPr>
              <a:t>&lt; 1 in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most test annually or never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40480"/>
            <a:ext cx="54864" cy="2194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WHY THIS HAPPENS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434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F3F46"/>
                </a:solidFill>
                <a:latin typeface="Calibri"/>
              </a:rPr>
              <a:t>Backup software reports "success" the moment the bytes are written. It does not verify
the bytes can be restored into a working database. Schema drift, corrupted blocks, missing
WAL segments, key-rotation gone wrong — invisible until restore time. The first real
restore most teams ever do is during the outage. That is when they discover the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A drill is a controlled restore — daily, automated, signed.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10972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Soteria pulls your latest backup into a clean sandbox, runs your assertions, and produces a
cryptographically signed PDF. Run it every day. Catch the broken backup on a Tuesday.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Fetch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Read the latest
dump from S3 / GCS / etc.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40751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7095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81415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1415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335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1415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Load it into a fresh,
isolated Postgres.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99207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65551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39871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39871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2791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Assert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9871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Run your SQL checks:
rows, schema, freshness.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57663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24007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98327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8327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1247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8327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Produce an Ed25519-
signed PDF report.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916119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82463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56783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6783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9703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Tear 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6783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Destroy the sandbox.
Alert on any 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206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Calibri"/>
              </a:rPr>
              <a:t>THE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"We have backups" becomes "we have signed proof, from this morning, that we can restore."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What we have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603504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60020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60020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160020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57276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app.soteria.io/drills/a1f9c2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14884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17627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47857"/>
                </a:solidFill>
                <a:latin typeface="Calibri"/>
              </a:rPr>
              <a:t>● passed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2m 14s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21992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4.2M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1024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8184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8184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6 /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0056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8308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assert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2356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52628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6177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1717A"/>
                </a:solidFill>
                <a:latin typeface="Consolas"/>
              </a:rPr>
              <a:t>SIGNED EVIDENCE  ·  ed25519:9f2c4b…a17b  ·  valid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8920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Encrypted at rest · 7-year retention · tamper-evident chain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3C5D"/>
                </a:solidFill>
                <a:latin typeface="Calibri"/>
              </a:rPr>
              <a:t>CAPABILITIES SHIPPED</a:t>
            </a:r>
          </a:p>
        </p:txBody>
      </p:sp>
      <p:sp>
        <p:nvSpPr>
          <p:cNvPr id="45" name="Oval 44"/>
          <p:cNvSpPr/>
          <p:nvPr/>
        </p:nvSpPr>
        <p:spPr>
          <a:xfrm>
            <a:off x="6858000" y="194767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187451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Connector library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213055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S3, GCS, Azure Blob, R2, local, SFTP. Postgres first.</a:t>
            </a:r>
          </a:p>
        </p:txBody>
      </p:sp>
      <p:sp>
        <p:nvSpPr>
          <p:cNvPr id="48" name="Oval 47"/>
          <p:cNvSpPr/>
          <p:nvPr/>
        </p:nvSpPr>
        <p:spPr>
          <a:xfrm>
            <a:off x="6858000" y="249631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242315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Isolated restore runner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8" y="267919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Ephemeral sandbox per drill. Zero production touch.</a:t>
            </a:r>
          </a:p>
        </p:txBody>
      </p:sp>
      <p:sp>
        <p:nvSpPr>
          <p:cNvPr id="51" name="Oval 50"/>
          <p:cNvSpPr/>
          <p:nvPr/>
        </p:nvSpPr>
        <p:spPr>
          <a:xfrm>
            <a:off x="6858000" y="304495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297179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Assertion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322783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Plain SQL checks: rows, schema, freshness, invariants.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0" y="359359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9168" y="352043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Evidence vault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9168" y="377647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Ed25519-signed PDFs, AES-GCM encrypted, 7-year retention.</a:t>
            </a:r>
          </a:p>
        </p:txBody>
      </p:sp>
      <p:sp>
        <p:nvSpPr>
          <p:cNvPr id="57" name="Oval 56"/>
          <p:cNvSpPr/>
          <p:nvPr/>
        </p:nvSpPr>
        <p:spPr>
          <a:xfrm>
            <a:off x="6858000" y="414223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168" y="406907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Scheduling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9168" y="432511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Cron cadences per database + on-demand drills.</a:t>
            </a:r>
          </a:p>
        </p:txBody>
      </p:sp>
      <p:sp>
        <p:nvSpPr>
          <p:cNvPr id="60" name="Oval 59"/>
          <p:cNvSpPr/>
          <p:nvPr/>
        </p:nvSpPr>
        <p:spPr>
          <a:xfrm>
            <a:off x="6858000" y="469087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9168" y="461771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Failure alerts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487375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Email, Slack, signed webhooks. Pages only on real signal.</a:t>
            </a:r>
          </a:p>
        </p:txBody>
      </p:sp>
      <p:sp>
        <p:nvSpPr>
          <p:cNvPr id="63" name="Oval 62"/>
          <p:cNvSpPr/>
          <p:nvPr/>
        </p:nvSpPr>
        <p:spPr>
          <a:xfrm>
            <a:off x="6858000" y="523951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9168" y="516635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Audit-ready reports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9168" y="542239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Per-DB history, pass-rate trends, exportable evidence packs.</a:t>
            </a:r>
          </a:p>
        </p:txBody>
      </p:sp>
      <p:sp>
        <p:nvSpPr>
          <p:cNvPr id="66" name="Oval 65"/>
          <p:cNvSpPr/>
          <p:nvPr/>
        </p:nvSpPr>
        <p:spPr>
          <a:xfrm>
            <a:off x="6858000" y="578815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59168" y="571499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JSON API &amp; multi-tenant SaaS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9168" y="597103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Versioned API, billing, MFA, RBAC,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A failed drill vs a successful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53212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276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627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6276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600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app.soteria.io/drills/...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57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05740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0848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Calibri"/>
              </a:rPr>
              <a:t>● 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14m 02s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9169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8313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313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Calibri"/>
              </a:rPr>
              <a:t>3.8M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042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186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Calibri"/>
              </a:rPr>
              <a:t>4 /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915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059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059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B91C1C"/>
                </a:solidFill>
                <a:latin typeface="Calibri"/>
              </a:rPr>
              <a:t>✗ assert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206240"/>
            <a:ext cx="4983480" cy="1645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31596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Calibri"/>
              </a:rPr>
              <a:t>FAILED ASSERTIONS  ·  ALERTED 04:11 UTC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9028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orders.created_at freshness — latest row is 5d 11h old (max 26h)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84632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payments.amount — 421 NULLs in a NOT NULL column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10235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Paged oncall@yours.co and #ops Slack — broken backup, before the outage.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50876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1508760"/>
            <a:ext cx="553212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55080" y="16276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37960" y="1627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0840" y="16276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1600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app.soteria.io/drills/...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2057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2331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69880" y="205740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69880" y="20848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● passed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Calibri"/>
              </a:rPr>
              <a:t>2m 14s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6097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5241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241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4.2M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2970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114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114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Calibri"/>
              </a:rPr>
              <a:t>6 / 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9843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8987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8987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6092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6092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960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828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assert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669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8356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356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92240" y="4206240"/>
            <a:ext cx="4983480" cy="16459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29400" y="431596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Calibri"/>
              </a:rPr>
              <a:t>ALL 6 ASSERTIONS PASSED  ·  SIGNED AND ARCHIVED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459028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Restore time within SLO. Fresh data within window.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484632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Schema match. Row counts within tolerance.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510235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Ed25519-signed PDF in the evidence vault. No human in the loop.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172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The difference: one of these gets fixed Tuesday morning. The other becomes an incident.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Every regulated B2B company is a buyer.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Compliance-driven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SOC 2, ISO 27001, HIPAA, PCI all require restore testing.
The auditor wants signed proof — not a policy doc.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PRIMARY BEACHHEAD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Series A → C SaaS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Fintech, healthtech, legaltech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20-500 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Trauma-driven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Teams that have lived through a failed restore (or watched
a peer live through one) buy fast and pay full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WORD-OF-MOUTH ENGINE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Anyone who lost data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Anyone whose CTO did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Sleep-driven purchase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Devops-mature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Teams that already run chaos drills and game-days but
have never automated backup verification.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INBOUND VIA CONTENT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Strong infra culture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Already pay for Datadog tier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Self-serve onboarding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Bottom-up via SOC 2 prep → expansion into the rest of the company. Land at $99, expand to $299, retain on the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Pricing by how often you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FREE FOR 14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Daily drills, full 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Community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40" y="16916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709928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Starter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DRILL 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Daily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36" name="Oval 35"/>
          <p:cNvSpPr/>
          <p:nvPr/>
        </p:nvSpPr>
        <p:spPr>
          <a:xfrm>
            <a:off x="461772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38" name="Oval 37"/>
          <p:cNvSpPr/>
          <p:nvPr/>
        </p:nvSpPr>
        <p:spPr>
          <a:xfrm>
            <a:off x="461772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40" name="Oval 39"/>
          <p:cNvSpPr/>
          <p:nvPr/>
        </p:nvSpPr>
        <p:spPr>
          <a:xfrm>
            <a:off x="461772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42" name="Oval 41"/>
          <p:cNvSpPr/>
          <p:nvPr/>
        </p:nvSpPr>
        <p:spPr>
          <a:xfrm>
            <a:off x="461772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 alerts</a:t>
            </a:r>
          </a:p>
        </p:txBody>
      </p:sp>
      <p:sp>
        <p:nvSpPr>
          <p:cNvPr id="44" name="Oval 43"/>
          <p:cNvSpPr/>
          <p:nvPr/>
        </p:nvSpPr>
        <p:spPr>
          <a:xfrm>
            <a:off x="461772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Email support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$299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DRILL FREQUENCY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Hourly</a:t>
            </a:r>
          </a:p>
        </p:txBody>
      </p:sp>
      <p:sp>
        <p:nvSpPr>
          <p:cNvPr id="53" name="Oval 52"/>
          <p:cNvSpPr/>
          <p:nvPr/>
        </p:nvSpPr>
        <p:spPr>
          <a:xfrm>
            <a:off x="841248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databases</a:t>
            </a:r>
          </a:p>
        </p:txBody>
      </p:sp>
      <p:sp>
        <p:nvSpPr>
          <p:cNvPr id="55" name="Oval 54"/>
          <p:cNvSpPr/>
          <p:nvPr/>
        </p:nvSpPr>
        <p:spPr>
          <a:xfrm>
            <a:off x="841248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team seats</a:t>
            </a:r>
          </a:p>
        </p:txBody>
      </p:sp>
      <p:sp>
        <p:nvSpPr>
          <p:cNvPr id="57" name="Oval 56"/>
          <p:cNvSpPr/>
          <p:nvPr/>
        </p:nvSpPr>
        <p:spPr>
          <a:xfrm>
            <a:off x="841248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59" name="Oval 58"/>
          <p:cNvSpPr/>
          <p:nvPr/>
        </p:nvSpPr>
        <p:spPr>
          <a:xfrm>
            <a:off x="841248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61" name="Oval 60"/>
          <p:cNvSpPr/>
          <p:nvPr/>
        </p:nvSpPr>
        <p:spPr>
          <a:xfrm>
            <a:off x="841248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</a:t>
            </a:r>
          </a:p>
        </p:txBody>
      </p:sp>
      <p:sp>
        <p:nvSpPr>
          <p:cNvPr id="63" name="Oval 62"/>
          <p:cNvSpPr/>
          <p:nvPr/>
        </p:nvSpPr>
        <p:spPr>
          <a:xfrm>
            <a:off x="841248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SSO/SAML · Priority support · SLA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Enterprise: SOC 2 docs, custom retention, self-hosted runner in your VPC — contact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Where we stand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✓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7857"/>
                </a:solidFill>
                <a:latin typeface="Calibri"/>
              </a:rPr>
              <a:t>Product code-complete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✓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7857"/>
                </a:solidFill>
                <a:latin typeface="Calibri"/>
              </a:rPr>
              <a:t>Deployment pipeline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83C5D"/>
                </a:solidFill>
                <a:latin typeface="Calibri"/>
              </a:rPr>
              <a:t>○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83C5D"/>
                </a:solidFill>
                <a:latin typeface="Calibri"/>
              </a:rPr>
              <a:t>Onboarding 5 design partners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5532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54864" cy="3657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SHIPPED — IN THE REPO TODAY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290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Drill engine: fetch · restore · assert · sign · teardown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90448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13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Multi-tenant SaaS: auth, MFA, RBAC, billing (Stripe), audit log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28853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9709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Evidence vault: Ed25519 signed PDFs, AES-GCM, 7-year retention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6725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811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Versioned JSON API + signed webhooks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0566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9651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Fly.io deployment with auto-deploy on green CI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4406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492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Persistent evidence storage, monitoring hooks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82472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332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Pricing, signup, onboarding flows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620877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1173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Compliance-ready: SOC 2 evidence model, immutable audit trail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788920"/>
            <a:ext cx="5532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788920"/>
            <a:ext cx="54864" cy="365760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3C5D"/>
                </a:solidFill>
                <a:latin typeface="Calibri"/>
              </a:rPr>
              <a:t>NEXT 90 DAYS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352044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4290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Onboard 5 design-partner customers</a:t>
            </a:r>
          </a:p>
        </p:txBody>
      </p:sp>
      <p:sp>
        <p:nvSpPr>
          <p:cNvPr id="40" name="Oval 39"/>
          <p:cNvSpPr/>
          <p:nvPr/>
        </p:nvSpPr>
        <p:spPr>
          <a:xfrm>
            <a:off x="6446520" y="390448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3813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Drill real production Postgres dumps end-to-end</a:t>
            </a:r>
          </a:p>
        </p:txBody>
      </p:sp>
      <p:sp>
        <p:nvSpPr>
          <p:cNvPr id="42" name="Oval 41"/>
          <p:cNvSpPr/>
          <p:nvPr/>
        </p:nvSpPr>
        <p:spPr>
          <a:xfrm>
            <a:off x="6446520" y="428853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19709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$99 / $299 paid subscription via Stripe</a:t>
            </a:r>
          </a:p>
        </p:txBody>
      </p:sp>
      <p:sp>
        <p:nvSpPr>
          <p:cNvPr id="44" name="Oval 43"/>
          <p:cNvSpPr/>
          <p:nvPr/>
        </p:nvSpPr>
        <p:spPr>
          <a:xfrm>
            <a:off x="6446520" y="4672584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5811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SOC 2 Type I evidence pack (using our own product)</a:t>
            </a:r>
          </a:p>
        </p:txBody>
      </p:sp>
      <p:sp>
        <p:nvSpPr>
          <p:cNvPr id="46" name="Oval 45"/>
          <p:cNvSpPr/>
          <p:nvPr/>
        </p:nvSpPr>
        <p:spPr>
          <a:xfrm>
            <a:off x="6446520" y="5056632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9651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Marketing site + docs (Astro)</a:t>
            </a:r>
          </a:p>
        </p:txBody>
      </p:sp>
      <p:sp>
        <p:nvSpPr>
          <p:cNvPr id="48" name="Oval 47"/>
          <p:cNvSpPr/>
          <p:nvPr/>
        </p:nvSpPr>
        <p:spPr>
          <a:xfrm>
            <a:off x="6446520" y="544068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3492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Observability + first SLA</a:t>
            </a:r>
          </a:p>
        </p:txBody>
      </p:sp>
      <p:sp>
        <p:nvSpPr>
          <p:cNvPr id="50" name="Oval 49"/>
          <p:cNvSpPr/>
          <p:nvPr/>
        </p:nvSpPr>
        <p:spPr>
          <a:xfrm>
            <a:off x="6446520" y="582472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57332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MySQL &amp; SQL Server connectors</a:t>
            </a:r>
          </a:p>
        </p:txBody>
      </p:sp>
      <p:sp>
        <p:nvSpPr>
          <p:cNvPr id="52" name="Oval 51"/>
          <p:cNvSpPr/>
          <p:nvPr/>
        </p:nvSpPr>
        <p:spPr>
          <a:xfrm>
            <a:off x="6446520" y="620877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61173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Self-hosted runner option for enterprise pilots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The next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–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5176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Fly.io production live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Stripe + Postmark wired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5 design partners onboarded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03904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Real drills running on real DBs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187952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Daily evidence PDFs delivered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3F5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 – 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Convert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2651760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Design partners → paying ($99–$299)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3035808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case study published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3419856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MySQL connector beta</a:t>
            </a:r>
          </a:p>
        </p:txBody>
      </p:sp>
      <p:sp>
        <p:nvSpPr>
          <p:cNvPr id="31" name="Oval 30"/>
          <p:cNvSpPr/>
          <p:nvPr/>
        </p:nvSpPr>
        <p:spPr>
          <a:xfrm>
            <a:off x="4617720" y="3803904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Slack integration GA</a:t>
            </a:r>
          </a:p>
        </p:txBody>
      </p:sp>
      <p:sp>
        <p:nvSpPr>
          <p:cNvPr id="33" name="Oval 32"/>
          <p:cNvSpPr/>
          <p:nvPr/>
        </p:nvSpPr>
        <p:spPr>
          <a:xfrm>
            <a:off x="4617720" y="4187952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SOC 2 Type I kickoff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84A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60 – 90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651760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10 paying customers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3035808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Inbound from content + SEO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419856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SQL Server connector beta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3803904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enterprise pilot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4187952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$1k MRR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21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4A0C6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Let’s build the proof layer
for every backup.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6E0EE"/>
                </a:solidFill>
                <a:latin typeface="Calibri"/>
              </a:rPr>
              <a:t>Soteria — backup verification you can 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4A0C6"/>
                </a:solidFill>
                <a:latin typeface="Calibri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32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ianrocks62@gmail.com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97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6E0EE"/>
                </a:solidFill>
                <a:latin typeface="Consolas"/>
              </a:rPr>
              <a:t>github.com/preshotcome/anything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